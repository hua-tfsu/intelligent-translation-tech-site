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88699d71f4255" /><Relationship Type="http://schemas.openxmlformats.org/officeDocument/2006/relationships/extended-properties" Target="/docProps/app.xml" Id="Rb94c0d41ccd840e6" /><Relationship Type="http://schemas.openxmlformats.org/officeDocument/2006/relationships/officeDocument" Target="/ppt/presentation.xml" Id="R65028e17e1ca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330ba44804929"/>
  </p:sldMasterIdLst>
  <p:notesMasterIdLst>
    <p:notesMasterId xmlns:r="http://schemas.openxmlformats.org/officeDocument/2006/relationships" r:id="R993a1e4ed66b4e89"/>
  </p:notesMasterIdLst>
  <p:sldIdLst>
    <p:sldId xmlns:r="http://schemas.openxmlformats.org/officeDocument/2006/relationships" id="256" r:id="Ra204dfb5e75b443f"/>
    <p:sldId xmlns:r="http://schemas.openxmlformats.org/officeDocument/2006/relationships" id="257" r:id="R765ab5649d5546ab"/>
    <p:sldId xmlns:r="http://schemas.openxmlformats.org/officeDocument/2006/relationships" id="258" r:id="R7b5937d440fa4a6c"/>
    <p:sldId xmlns:r="http://schemas.openxmlformats.org/officeDocument/2006/relationships" id="259" r:id="R00088987611d40bf"/>
    <p:sldId xmlns:r="http://schemas.openxmlformats.org/officeDocument/2006/relationships" id="260" r:id="R8ced5918892a4fb0"/>
    <p:sldId xmlns:r="http://schemas.openxmlformats.org/officeDocument/2006/relationships" id="261" r:id="R536003f583054d80"/>
    <p:sldId xmlns:r="http://schemas.openxmlformats.org/officeDocument/2006/relationships" id="262" r:id="Rb64316c13bdb4026"/>
    <p:sldId xmlns:r="http://schemas.openxmlformats.org/officeDocument/2006/relationships" id="263" r:id="Rc424273fb2b3454c"/>
    <p:sldId xmlns:r="http://schemas.openxmlformats.org/officeDocument/2006/relationships" id="264" r:id="R689821646fd347e4"/>
    <p:sldId xmlns:r="http://schemas.openxmlformats.org/officeDocument/2006/relationships" id="265" r:id="R84ff4d449a3a43f8"/>
    <p:sldId xmlns:r="http://schemas.openxmlformats.org/officeDocument/2006/relationships" id="266" r:id="R327fb0c74dbc44ad"/>
    <p:sldId xmlns:r="http://schemas.openxmlformats.org/officeDocument/2006/relationships" id="267" r:id="R1749033003284f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330ba44804929" /><Relationship Type="http://schemas.openxmlformats.org/officeDocument/2006/relationships/theme" Target="/ppt/theme/theme1.xml" Id="Rec5b1b5ada3646fa" /><Relationship Type="http://schemas.openxmlformats.org/officeDocument/2006/relationships/notesMaster" Target="/ppt/notesMasters/notesMaster1.xml" Id="R993a1e4ed66b4e89" /><Relationship Type="http://schemas.openxmlformats.org/officeDocument/2006/relationships/presProps" Target="/ppt/presProps.xml" Id="R49c187e6c1844593" /><Relationship Type="http://schemas.openxmlformats.org/officeDocument/2006/relationships/viewProps" Target="/ppt/viewProps.xml" Id="R8e1102d6bc174e03" /><Relationship Type="http://schemas.openxmlformats.org/officeDocument/2006/relationships/tableStyles" Target="/ppt/tableStyles.xml" Id="R46ddda74e4e742ec" /><Relationship Type="http://schemas.openxmlformats.org/officeDocument/2006/relationships/slide" Target="/ppt/slides/slide1.xml" Id="Ra204dfb5e75b443f" /><Relationship Type="http://schemas.openxmlformats.org/officeDocument/2006/relationships/slide" Target="/ppt/slides/slide2.xml" Id="R765ab5649d5546ab" /><Relationship Type="http://schemas.openxmlformats.org/officeDocument/2006/relationships/slide" Target="/ppt/slides/slide3.xml" Id="R7b5937d440fa4a6c" /><Relationship Type="http://schemas.openxmlformats.org/officeDocument/2006/relationships/slide" Target="/ppt/slides/slide4.xml" Id="R00088987611d40bf" /><Relationship Type="http://schemas.openxmlformats.org/officeDocument/2006/relationships/slide" Target="/ppt/slides/slide5.xml" Id="R8ced5918892a4fb0" /><Relationship Type="http://schemas.openxmlformats.org/officeDocument/2006/relationships/slide" Target="/ppt/slides/slide6.xml" Id="R536003f583054d80" /><Relationship Type="http://schemas.openxmlformats.org/officeDocument/2006/relationships/slide" Target="/ppt/slides/slide7.xml" Id="Rb64316c13bdb4026" /><Relationship Type="http://schemas.openxmlformats.org/officeDocument/2006/relationships/slide" Target="/ppt/slides/slide8.xml" Id="Rc424273fb2b3454c" /><Relationship Type="http://schemas.openxmlformats.org/officeDocument/2006/relationships/slide" Target="/ppt/slides/slide9.xml" Id="R689821646fd347e4" /><Relationship Type="http://schemas.openxmlformats.org/officeDocument/2006/relationships/slide" Target="/ppt/slides/slide10.xml" Id="R84ff4d449a3a43f8" /><Relationship Type="http://schemas.openxmlformats.org/officeDocument/2006/relationships/slide" Target="/ppt/slides/slide11.xml" Id="R327fb0c74dbc44ad" /><Relationship Type="http://schemas.openxmlformats.org/officeDocument/2006/relationships/slide" Target="/ppt/slides/slide12.xml" Id="R1749033003284f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adb4c7c1c944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beca78b526483c" /><Relationship Type="http://schemas.openxmlformats.org/officeDocument/2006/relationships/notesMaster" Target="/ppt/notesMasters/notesMaster1.xml" Id="Rdda5b59de69f4c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1b102bfda4583" /><Relationship Type="http://schemas.openxmlformats.org/officeDocument/2006/relationships/notesMaster" Target="/ppt/notesMasters/notesMaster1.xml" Id="Raf7120c0042c4f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53125e3be4ef0" /><Relationship Type="http://schemas.openxmlformats.org/officeDocument/2006/relationships/notesMaster" Target="/ppt/notesMasters/notesMaster1.xml" Id="Rc70b739cddae4f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4c3569d1d24866" /><Relationship Type="http://schemas.openxmlformats.org/officeDocument/2006/relationships/notesMaster" Target="/ppt/notesMasters/notesMaster1.xml" Id="R50166d5488fc45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66ef4437a4f1f" /><Relationship Type="http://schemas.openxmlformats.org/officeDocument/2006/relationships/notesMaster" Target="/ppt/notesMasters/notesMaster1.xml" Id="Rfec38830b2e5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5f84da0594fd8" /><Relationship Type="http://schemas.openxmlformats.org/officeDocument/2006/relationships/notesMaster" Target="/ppt/notesMasters/notesMaster1.xml" Id="Rc64bc597cff249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d6bd4e28364f25" /><Relationship Type="http://schemas.openxmlformats.org/officeDocument/2006/relationships/notesMaster" Target="/ppt/notesMasters/notesMaster1.xml" Id="Ra6d8501dbecb40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d4a28f8344f1e" /><Relationship Type="http://schemas.openxmlformats.org/officeDocument/2006/relationships/notesMaster" Target="/ppt/notesMasters/notesMaster1.xml" Id="Rf3aba4435b8544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54ec6e3b5b4d64" /><Relationship Type="http://schemas.openxmlformats.org/officeDocument/2006/relationships/notesMaster" Target="/ppt/notesMasters/notesMaster1.xml" Id="R2aea1d1bd82f4c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13d84e927a421b" /><Relationship Type="http://schemas.openxmlformats.org/officeDocument/2006/relationships/notesMaster" Target="/ppt/notesMasters/notesMaster1.xml" Id="R5c97f722946d4e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ef0bf7eeca4e3a" /><Relationship Type="http://schemas.openxmlformats.org/officeDocument/2006/relationships/notesMaster" Target="/ppt/notesMasters/notesMaster1.xml" Id="Rd6c7e2cf52b14c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c6fec3195b427d" /><Relationship Type="http://schemas.openxmlformats.org/officeDocument/2006/relationships/notesMaster" Target="/ppt/notesMasters/notesMaster1.xml" Id="Rfe07350c8eb7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6d087eda747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386333712e4820" /><Relationship Type="http://schemas.openxmlformats.org/officeDocument/2006/relationships/slideLayout" Target="/ppt/slideLayouts/slideLayout2.xml" Id="R7c0dcc5ca5b1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dcc5ca5b1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2285f0e01f47d1" /><Relationship Type="http://schemas.openxmlformats.org/officeDocument/2006/relationships/notesSlide" Target="/ppt/notesSlides/notesSlide1.xml" Id="R423cf155eab4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246a5758f4922" /><Relationship Type="http://schemas.openxmlformats.org/officeDocument/2006/relationships/notesSlide" Target="/ppt/notesSlides/notesSlide2.xml" Id="R7a444c663732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123edaa0a74ac1" /><Relationship Type="http://schemas.openxmlformats.org/officeDocument/2006/relationships/notesSlide" Target="/ppt/notesSlides/notesSlide3.xml" Id="Rfc9e29e7f45445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c4b741e39f4871" /><Relationship Type="http://schemas.openxmlformats.org/officeDocument/2006/relationships/notesSlide" Target="/ppt/notesSlides/notesSlide4.xml" Id="Rb51c73dab15a4d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65328531149e2" /><Relationship Type="http://schemas.openxmlformats.org/officeDocument/2006/relationships/notesSlide" Target="/ppt/notesSlides/notesSlide5.xml" Id="Rc4b6c923b59f49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0faadfa1e54f6f" /><Relationship Type="http://schemas.openxmlformats.org/officeDocument/2006/relationships/notesSlide" Target="/ppt/notesSlides/notesSlide6.xml" Id="R49a36d8916fa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89c38507048dc" /><Relationship Type="http://schemas.openxmlformats.org/officeDocument/2006/relationships/notesSlide" Target="/ppt/notesSlides/notesSlide7.xml" Id="R8c0f3ad2abfb48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911f898a4e43fc" /><Relationship Type="http://schemas.openxmlformats.org/officeDocument/2006/relationships/notesSlide" Target="/ppt/notesSlides/notesSlide8.xml" Id="R64f63af800cd4f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ad7ff5bf6d4a59" /><Relationship Type="http://schemas.openxmlformats.org/officeDocument/2006/relationships/notesSlide" Target="/ppt/notesSlides/notesSlide9.xml" Id="R90931165154043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e5d3aa9ce64cef" /><Relationship Type="http://schemas.openxmlformats.org/officeDocument/2006/relationships/notesSlide" Target="/ppt/notesSlides/notesSlide10.xml" Id="R011ff1e0a4d743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5884b09754b41" /><Relationship Type="http://schemas.openxmlformats.org/officeDocument/2006/relationships/notesSlide" Target="/ppt/notesSlides/notesSlide11.xml" Id="Rc0d0f71da05a47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25982ccd543f8" /><Relationship Type="http://schemas.openxmlformats.org/officeDocument/2006/relationships/notesSlide" Target="/ppt/notesSlides/notesSlide12.xml" Id="R7609198b29a142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14D27-8AA1-47F7-9B45-8148C954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BF40-8F9A-4781-A98F-29B73D7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40DFE-F425-4ADF-AB47-FB5F53AC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30F79-7F9C-4241-90DF-BF9D6DE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C05D0-5C93-4482-A95B-FD49A04E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FB9BB-A688-4F16-9DA2-B1AEF97C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98884-6135-4E95-AFB1-E8D4BAD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C815A-137C-4190-AE45-7051A65D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6E466-D21B-4E54-B173-9EA1631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1984D-8AEA-4CD4-BE35-D75E613C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439F-ED59-411E-9D6A-F427746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E0436-0879-4226-9941-56ECED0D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610D5-B527-4917-8A74-248ED47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9C421-E51D-4D71-B2C3-70EEB36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28624-FA53-4675-ACC1-776B4BB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77E4A-0B21-4AEC-B614-E930447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33456-1A97-4FFB-A3ED-7F0640C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47CDA-F0F4-4FF2-B5C1-08E10841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8A4B1-C882-4B53-B6BE-35B9A283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14570-0D01-402E-8DAD-A518AC25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C0234-7E10-493E-9DAA-908E12FE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1BEE8-F4B4-4AC0-887C-DF61FC47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5D111-A192-4B72-B7D0-41CE25D4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67B5D-F2EF-4B0B-8B88-4A2AD6D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DB75E-0475-4405-B343-9AC131A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6FA3B-8EF6-4E9E-8E64-A460998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D28D2-CE88-4EFB-9A5F-1D1CADE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8B124-FE3E-4D82-955E-8B70A438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口语口译智能体的诞生与优化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55451-B006-48A7-B755-CA7162F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基于扣子平台的智能实践课件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762E4-33AA-4BA0-9707-1CE5210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把真实交传训练 SOP 转化为稳定、可迭代、可复用的 AI 工作流。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EB28F-5967-47C6-AC13-5AD799D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EB9DD-899D-4880-9D42-287EE5A2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6E5A1-8822-4C9A-9EED-DD203893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1F7A5C-6DC7-475F-B223-2E51913F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交替传译训练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单一目标，真实流程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315988-5BF9-4E7F-8DA6-D0D53F41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D1256E-4270-405A-94D9-8C51851F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DB2506-28C8-4BED-8FED-A06E756B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1D6028-3012-4EF6-BDE5-E991867B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扣子编程 / Coze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智能体 + 工作流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EB6335-38D5-41CF-9D51-C4E65421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8FB3C3-3E35-4E1B-B37B-941D6405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507595-1506-4843-BA6E-5138FA37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99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成品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9A116A-8138-4F6C-B03F-F5662297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可运行智能体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可测试、可复盘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C8F814-CA78-4B38-A1F9-A349175F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57BF20-27FE-4D6B-BBD3-92C3D1EC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576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6EE4C1-56D6-4F10-AB4B-A2AC3FB2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814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29456B-D3D0-401B-9A33-71BD017C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576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B8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B8C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5D63AB-BE2B-4256-AA8D-61717777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28700"/>
            <a:ext cx="2095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7B27C6-37A7-4A06-97D4-107509C4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763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本课关键词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80BC68-A448-4D6B-B290-C36C5B1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FB195F-A272-407C-8F90-09614F9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335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多模态模型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07F317-A2F4-468F-A04E-CC5ACA5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28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902A9C-A2D6-4678-BB91-994E714F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工作流设计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8E8671-D17F-4BC4-8CCC-9F9C681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D957B3-0802-4B5E-B7C6-2A3921D8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知识库调用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95716B-B8DD-47AD-B1D1-6063015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8FA04D-C2B3-4042-A858-B3CA9B9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TTS / 转写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C37B93-8E4C-4FF1-8D8A-6E35216E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86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BB126A-06D6-4671-A76B-747795A8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9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提示词约束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296A8A-D51A-44AD-A9B3-EF4A3DC7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37F424-1907-4A68-9829-0AD0F8E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试运行优化</a:t>
            </a:r>
          </a:p>
        </p:txBody>
      </p:sp>
    </p:spTree>
    <p:extLst>
      <p:ext uri="{BB962C8B-B14F-4D97-AF65-F5344CB8AC3E}">
        <p14:creationId xmlns:p14="http://schemas.microsoft.com/office/powerpoint/2010/main" val="17145933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D819E-B9C2-4548-B3BD-1D26DB9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6058E-5C80-4BFF-80C8-C69BA15D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BDC67-7B8D-4328-A6B7-59C1B7D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CE375-D00E-4D4B-830C-3DE0BE27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621C0-409D-4040-A852-B5107823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972E9-A4F6-4A4E-9848-FE3BA66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1938A-3A12-49E6-A48D-23AD2C0E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A3600-EBF0-4BD2-BC66-5CE0FEE6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57FE0-6133-497F-9714-8D4243B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24A36-3E0B-47A4-8E27-7A63836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71027-B63E-4D5E-909A-6C4329EB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A03AE-3AB0-49D0-9436-517D96E0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50523-6E3A-4288-84AC-8A8A70D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91782-14AE-4C0B-87BA-A866663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25596-2871-4E5C-A5E8-BB94447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3D8EF-49CB-4004-9945-0DAB288D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B98E0-18F6-4F14-9493-D204C715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51130-6FA7-4148-A3A5-8788724A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709B1-39E7-4487-97CF-28CD598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CB1F4-489C-4B35-83D4-0ADAC060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84107-27F7-4833-8632-B394ADF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B8E48-58FC-424E-A901-AD817E7B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1ADEE-0B7E-43EE-BECB-9E7177BE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38159-43EA-4731-8900-2DF023D4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BEB73-3F9D-474F-907B-C6675AA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97BD2-A98F-46E8-8AB3-E425F07A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CEB2E-D2FC-470C-9177-713F91D4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765DA1-BE76-420A-8B11-F767B10C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DEBBA-7862-4541-A2B0-288D1EF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LEARNING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54D31D-BFF8-47B5-9E4C-5A69A07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学习目标不是“会用工具”，而是能搭出训练系统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D8717-2601-4FE2-9FB2-A54DA1F2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飞书资料将授课目标放在多模态模型、工作流、插件、提示词与实操练习的连续链条中。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66114D-B1FC-4BDD-BD50-0D47B0B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1E2564-FADE-436C-BDAB-A4D3DC3C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F1ECCD-E8F7-4553-9720-CFC463CE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8BAEE-38D0-42B6-988C-F5213B84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识别能力边界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96C378-1F19-4461-8000-9F0DFCE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914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理解音视频多模态模型能做什么，也看见时长、背景漂移、密钥额度等限制。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E08772-3C15-4F79-BA05-A80A3DF4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955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161C9C-50E6-4621-94D9-48A29BC4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955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76E90F-80FB-4CE1-9A43-D59ABB67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C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B8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BC0F03-F408-4756-95C7-E0491C0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6670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拆解训练流程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74D8A6-F57F-491A-936A-424B7B05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1914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把交传练习拆为材料调取、分句、音频、录音、转写和输出，而不是一句提示词包办。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2515E8-33E6-4718-97D7-5F8921B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367931-8249-46B8-90CD-9F0277F3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15660B-1739-4499-B3CD-E60889CC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06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08BD61-54F9-4B7A-A32B-5583A870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配置智能体能力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7EBB26-5513-41CF-9D45-53900964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914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围绕变量、知识库、TTS、转写、提示词约束配置一个可运行的口译智能体。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BCAC4E-8E12-4F27-BDBF-D3CB858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955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98C0F2-137B-4EA6-9F0C-1D913D27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955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CACAEA-3A96-42C4-85CB-B010368C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479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9DDD3A-7DA8-4C73-B064-DD7A7B09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66700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完成试运行迭代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5D431E-9B47-4780-A8B9-A3F17BB8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914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用运行结果反查错误原因，调整节点输入输出与提示词格式。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98818B-5569-4AB0-A3AE-F81C336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课堂产出：一个“可选择材料、可生成练习音频、可收集口译录音、可转写输出”的最小闭环。</a:t>
            </a:r>
          </a:p>
        </p:txBody>
      </p:sp>
    </p:spTree>
    <p:extLst>
      <p:ext uri="{BB962C8B-B14F-4D97-AF65-F5344CB8AC3E}">
        <p14:creationId xmlns:p14="http://schemas.microsoft.com/office/powerpoint/2010/main" val="427240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73BBE-F1A4-4BE5-8383-26694C07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79102-885B-4301-8F11-F2D3CC3B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00A00-CF65-4E73-B59F-6FDD3C20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1A0D7-F3E2-4366-8064-1CF008A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B37D2-7DBC-443D-BD8B-918628B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4379B-475A-4949-99D0-9E5A2D9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AFF35-98E2-4BD6-AE54-78F4EC7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83AC9-ECCD-4AC7-9576-C2289DAD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FC55E-06BF-4C96-B550-16030A9F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20E83-BB54-4C57-AAFE-842A23D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77569-7D27-4143-A90B-C78E1108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7EEBF-2F7E-4B1C-9186-CC2C814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19EF9-63F0-4D67-B291-6DB9F315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049A8-5511-45D7-93E2-057B4753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DD606-A644-49C1-A544-8BADB496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62A35-9177-443F-A4C5-094BB7B4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B1424-2779-41EF-9290-668AF83D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0CCD4-8F06-4EE7-85E9-38336AA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31B2D-A3F9-43DA-A2CC-A3CC15F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DB129-C82C-4BDA-AEE8-3912F3F0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754FA-EF5F-43B0-8CA3-DC2FC91E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9E7A1-BF44-4D6D-959D-E6B5EDD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7571D-C86E-4A10-8BB8-A5CB8B01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16287-6558-4A37-A6F4-F689769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6AA81-F8C6-4909-9DCE-47A311F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F072E-8607-48DB-A694-7E870C56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3ED55-4F21-45BB-9F06-7E96428E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AD760-8C10-4270-87A6-668A66A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223B9-ABF7-421F-AE7E-0B966E6E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MULTIMODAL ENTRY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D74719-6E8E-46D2-BCB0-BE8BBED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音视频模型能打开想象力，但训练系统必须管理边界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52190-9B4C-4F55-A8F7-4EF98837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资料示例展示了即梦、可灵、SkyReels、千问等视频生成结果，同时提醒时长限制和背景变动。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CADCD2-AFFF-4A82-8A30-D88CD89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可用于课堂引入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FC17D-B441-406E-9095-6918E44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57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A8B653-DC33-46C6-9AAF-DB57E91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F6139-6FAB-4C1B-AB44-8D5ED53C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能力侧：生成外语发言视频与口音样例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81F7E-5570-43AD-BA5B-615DE8F7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4152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用会议背景、发言文本、口音与语速要求快速生成情境材料，让学生先看见“AI 可以构造口译场景”。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适合：导入课堂、示范多模态材料生成、激发场景设计。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BFCFDF-F182-47A4-9045-29387FC5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必须显性控制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595F6-DE1E-4905-B66B-DE014E2B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457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E43FB4-B829-4E30-9911-BEFB8FE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286433-D892-4F9F-9736-6038AFD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边界侧：时长、背景和稳定性仍需工作流兜底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08726E-6DAA-4CAC-9BFE-A3078BDD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4152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资料指出单次生成时长有限，长会议视频需要分段处理；模型也可能自行改变人物或背景。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结论：课堂核心不止是生成素材，而是把素材流入可控训练流程。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882565-2336-4C2F-A994-BB2B09E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76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2C4A81-CA98-43A5-88F1-1F11F39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861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B8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B8C8"/>
                </a:solidFill>
                <a:latin typeface="PingFang SC"/>
                <a:ea typeface="PingFang SC"/>
                <a:cs typeface="PingFang SC"/>
              </a:rPr>
              <a:t>进入工作流</a:t>
            </a:r>
          </a:p>
        </p:txBody>
      </p:sp>
    </p:spTree>
    <p:extLst>
      <p:ext uri="{BB962C8B-B14F-4D97-AF65-F5344CB8AC3E}">
        <p14:creationId xmlns:p14="http://schemas.microsoft.com/office/powerpoint/2010/main" val="1700610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4A0E2F-6133-4A54-A0E5-0C4A5FDB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D91B6-C218-4B24-9B93-204829F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C4942-4153-416B-ACFF-5CC91169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AD0E6-55E0-4E44-9D13-77954FF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ED0B4-4803-4973-A1C1-29193F8C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C911-6B72-4F60-B863-C1FFD012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ECA7C-AFAF-4BC4-A613-F4182317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C78CA-2B93-494A-B3A2-60C647CD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C52F0-5E99-4793-8F3A-4C1C5DAF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EAA26-31CE-4DB0-9896-A0CEF1F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24B49-6775-495A-9F59-E9D0476B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073A8-1BED-4DA5-8EAC-AAA5B4F5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13826-2276-4806-8CB8-1024664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1E9DE-EEFD-46B0-89A2-F4C9C5C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E9EEB-D2DF-4988-82C0-81C64AB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55C76-5861-4D5C-AA51-78B905BE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10DBB-24BE-442B-807E-DDC98D91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A07DA-20DE-4AB2-8FFC-1DE7C1B9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B6CA1-D6B1-4F68-B172-5680E2A8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0DE7B-11C5-4A95-A550-85DAA15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3261C-2E71-40B3-A358-5B21177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212B1-0556-4E60-B671-71CD0A21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634D9-D1B6-4EA7-9254-D62448D5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12AE7-4EEF-4111-8317-FD338CD1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597D3-5847-419A-A375-D9F302D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07900-CFC6-4111-900E-51A79D85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BCA7B-5B06-42BA-B48C-2DEA6F81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FC42F-6B71-4386-B47D-F08AEEC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A6F54-88E6-42B8-8056-54ED4B1A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PLATFORM ROLE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62EFED-1430-437E-96B5-200400A8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扣子平台承担“对话开发到一键部署”的教学环境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972279-A7B9-4131-97FD-83D34106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飞书资料将扣子编程描述为零代码 AI 智能体 / AI 应用搭建平台，也强调 Vibe Coding 基础设施。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A37D1A-A854-4C18-931B-E7BCD39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A99CB-1A4C-4B5F-9B4D-DF3AB3A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69BCB9-0C49-4171-A8DC-0C024437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自然语言描述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759DCC-65B9-46A8-90A9-E4DC0B7A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明确训练目标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限定口译场景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5920CB-C9F5-40C7-8CB0-730C754D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5F2E77-2B3B-47ED-9E69-D218AB55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6DCAD-988A-4A3B-BC08-AAF9CF1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241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6F681-403C-42A7-8C54-1A5702C8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63DBE4-1A4C-4429-ACBF-DCE81B7C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64282F-449D-4F5F-9F75-44522B3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9B9830-C939-4100-AE21-1219D91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角色设定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变量与记忆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1F6931-3020-4FB2-A2A2-2EA60C8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4AB5C6-54D5-479E-86A1-51A5FB39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0D2BBD-9B57-4B47-8E9C-3C270D1D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241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5D330B-99CE-4020-88B1-780BADC1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B8715B-ABA6-407D-AE10-B63C2953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ADF61B-0077-46B5-B433-994BB60B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622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工作流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20BDB9-59E6-4859-8990-43AB532D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节点编排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输入输出链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52C360-FFE8-47EF-A6AE-DA61A1F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47B659-B277-4595-B71E-6CB6F7F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7658F2-823D-4843-87BD-55D21CAD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241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C789AD-50D9-43D7-BB48-160294B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FD8B1C-631F-40CF-9848-E518CC86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C3C1CC-EDA4-4636-885B-843E4D1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部署与练习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B93FC2-2D63-4CF3-828A-C6C9FDA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预览调试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学生使用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0D3E69-86E1-413B-A7EF-79C00766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52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F2541D-A2FF-441C-880E-409DCEE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教学定位：让学生把“会提问”升级为“会设计 AI 应用结构”。</a:t>
            </a:r>
          </a:p>
        </p:txBody>
      </p:sp>
    </p:spTree>
    <p:extLst>
      <p:ext uri="{BB962C8B-B14F-4D97-AF65-F5344CB8AC3E}">
        <p14:creationId xmlns:p14="http://schemas.microsoft.com/office/powerpoint/2010/main" val="1761921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F151E-374C-449A-8C40-6AFF8C5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A7BE3-22A4-435B-BAEC-72B1C95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81337-9EDE-48C7-A439-1AE59E1D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3FF52-3F68-40AA-9E6B-9A2D28C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A1F87-47F1-44D5-8BA9-F755968E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57C7C-1C56-4B3C-A138-BC9ACC45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5F7AF-8BE6-4682-A442-3C218FB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6DC6E-0FDF-4AE5-92CB-F1F7B349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31712-215C-4ADA-AD26-FDFB17F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DDAE4-86CF-4C85-A5A7-7EA23449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03DC3-9F6B-4F6B-904C-AE9C9B98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8860C-3588-4E67-8CA5-CFF95E68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6FAEC-2ACF-4B68-B9DE-983883B0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A1983-45A5-4F83-8F2E-14D7F24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01EF3-EBEC-43FC-A3C8-9E97F17C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5DA6A-0528-4DE4-9703-E4F9320A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E3FF1-A1EE-4B0D-8FB2-86AE3CCF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63337-F032-4BFB-AA11-8E50D6D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798A9-F682-45FC-9CD3-E69A76EB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FA5B5-3A18-4BA3-9EEB-AF2F2D58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D3015-F02C-4635-A999-7F3B775E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BC7AC-FD3A-44A5-9AFE-57486B70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EA88F-6EB7-4281-BF68-21C2E54E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B954D-20EE-4E66-A361-5F27D7DA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EEB04-7B40-4510-9D53-307B052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0F8F1-8D23-4705-8F1B-C1667B6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26ED5-B643-45C5-AE64-C671155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63D91-8731-4DF2-B220-62AA91D8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20A06-4EF1-4DD1-9B31-E19484C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WORKFLOW MENTAL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8F442-6E53-4CAD-B7D8-903AA838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工作流是把模型能力变成可重复任务的控制层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E8CD2-94DC-46A3-A131-259931E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资料用三种方式解释工作流：能力串联图、标准化流水线、智能体执行清单。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3E57D2-3B4D-458D-8BFB-8792B98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F0FF0-EAB1-4BA5-879C-17BCCF3A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44C35B-F8CA-4D15-AABC-40547A9C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大模型能力的逻辑串联图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619B21-9520-4A98-8D2F-79946C2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724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把语音、翻译、评估、知识库等能力按特定顺序串接，形成可运行路径。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064FA6-B8A6-4BA0-994F-93B3F4AB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CBDAC-A989-4F4D-849B-76EB989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A33444-A961-4603-9DBE-E96B585C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任务的标准化流水线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18ABB3-16F7-448E-9E27-79EB5070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24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把重复且有固定逻辑的任务拆成标准节点，让数据按规则自动流转。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E4A076-4A13-4192-842F-7F24DD9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D7F78-A571-4EAE-95D7-EEDC0BAC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53E964-8DD6-4A27-A81D-05411182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智能体的步骤执行清单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935F94-DEA6-48A3-A501-9B96281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724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让智能体按预设步骤有序完成任务，最终输出稳定结果。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1E6E32-44A2-4F2F-B985-B460589F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一句话：工作流不是“更长的提示词”，而是把任务边界、节点职责和输出格式都写进系统结构。</a:t>
            </a:r>
          </a:p>
        </p:txBody>
      </p:sp>
    </p:spTree>
    <p:extLst>
      <p:ext uri="{BB962C8B-B14F-4D97-AF65-F5344CB8AC3E}">
        <p14:creationId xmlns:p14="http://schemas.microsoft.com/office/powerpoint/2010/main" val="7036297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7C0CD-537E-42A6-9B32-654EFCA7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21CC5-99BD-49EC-814E-E492BE2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59B25-19EE-427B-BDE9-98BFBF6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79B58-AA50-4AFD-ADB7-7830571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B4B0B-FEF7-4D41-A63B-FF6CBED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9B907-F3E3-4D81-ADBC-F1B78A87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D794A-8207-446A-8E0E-B8F95ED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C6F65-D76A-4618-96F1-125AF81F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FB1B8-0F9D-455C-AB2D-5785CB61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74395-EDED-4AAF-9030-7E7F2E5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6258D-5A1F-4BFA-AB2A-E18225BD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D2C4B-6FC1-4703-85B5-E3D3F302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316BD-526C-4D68-B1FE-6FE64A25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7C5D4-0791-40E6-9B1E-0E6293F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20B48-769D-4672-8483-70BD823E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C31AA-6B7E-4D7C-8329-B62DBF54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B57B5-E609-461E-A446-B754B75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F4326-6D42-48A0-87B4-6DA7F4EB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19B83-58B0-48C9-841F-91EB05D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F5D75-8D2C-4EEA-AC72-D1F1599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CB1C2-EF15-4FEC-9E29-F2FC731E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EBE26-AD7E-4336-A0CC-BF2A6D5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0DF1C-CA39-40DD-8A34-D30D81E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4334C-5A92-4E64-94FC-AF86E2EE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8C009-3E13-4A0A-8878-5FBB0A65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CC44F-B554-4458-A24E-9F232D6F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38AA5-DBC7-42D1-8D59-4364A337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D6067-09ED-47F9-8CDB-8E89C3E1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14D93-57F4-494A-95F0-7C4353B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WHY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D768C-6262-434C-A559-A26F9E5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口译训练需要稳定性、专业性和长任务处理能力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F36435-55E8-4357-895E-FB72D10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资料将传统对话模式与工作流模式对照，指出工作流能让练习结果更稳定、更贴近专业标准。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768D1E-EE90-404E-9973-D30FF51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E1E5C4-21A0-445F-AA05-1E4AB30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E629A-8864-4643-8740-AB04012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247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558B98-2630-4FF2-86ED-ED86D3FA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03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传统对话模式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4CDD6D-4048-4E48-964D-8AEC3FE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47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E56B86-1F69-476E-9E56-5B959BD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工作流模式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2B50C3-B823-442B-BF40-CC54BCB3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19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139A79-655D-488D-A298-7EECA78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276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稳定性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3A0BA2-796B-4CEE-BC70-859EB28B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003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A69515-B614-4ED5-A87E-D09CBF0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346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像开盲盒：这次翻译得好，下次可能乱说。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486390-5C8A-41F5-A5C4-4ADCCCE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003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9F810D-B47B-461D-9F05-8B2B8CC1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每一步按标准逻辑走，结果更稳定。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1B6190-815B-49F4-B047-B1A83E92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19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A72F38-FCB1-4329-B9A2-B8874D4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276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专业性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FB77AD-70D7-4993-AF18-C19AD2E6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385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D030F6-117B-43F1-9FB1-6B513699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346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AI 凭空想象，可能提供错误分析。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7D15C8-E91F-4C02-B5A5-39ED3C41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385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D62D70-0BB6-40CB-B120-EECF43F8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先查术语库、记忆库和实时信息，分析有据可依。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DD0F6A-6DBC-451E-9EE2-076F9201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19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790262-1320-4C30-A68E-93CE6DD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276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处理能力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541653-8EFE-49AA-B0AC-02278A7C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767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588A4B-E360-4570-A841-694A0291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346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较长口译音频容易无法分析或乱分析。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2AA4CA-30E7-4C97-9B84-130D2CA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767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DD7B1D-E8F4-4479-9D3A-6431C24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自动切分、分段处理，再汇总输出。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282253-0FC2-448D-8626-CFA0755F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教学提示：当学生说“AI 不稳定”时，下一步不是换模型，而是检查有没有流程和约束。</a:t>
            </a:r>
          </a:p>
        </p:txBody>
      </p:sp>
    </p:spTree>
    <p:extLst>
      <p:ext uri="{BB962C8B-B14F-4D97-AF65-F5344CB8AC3E}">
        <p14:creationId xmlns:p14="http://schemas.microsoft.com/office/powerpoint/2010/main" val="12892690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82F03B-849F-42F6-B506-DD6CDEF1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C3E99-DDA8-434D-ABBB-1BBAF26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3E05E-1162-46C8-A2A4-808F6FD7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E44C9-FE7A-4EA4-A7B8-2C354A77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97E7D-2EB8-41FA-9CD1-60DCA3C6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10776-EBA4-4C0D-94FF-E0EF2BBD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3D08-FEB1-4366-97CE-633799C4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B9A8-6D8E-46D7-BC1F-8C88A19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A47C-F830-4985-ADE8-B5C855FD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A03A4-070E-4C77-9B1A-1DF25BDB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1419F-31F7-4CA9-942C-D8FADE48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0A163-99B0-44CC-9FFC-76C4DAB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1D9F6-DDE7-4B47-9B17-C15BE9B5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4B896-13D8-4B9E-A72D-D222F77B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A1542-E6C1-4E67-806C-A29D72A4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29CBA-6BC5-4FCE-B653-5986009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52321-7900-4E63-AB7A-2B8BD4E6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DA775-ED7F-4C68-A59E-7BCB9751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551CA-90DC-40A7-8775-13A93CA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8CB56-A864-4E05-90A2-B9838395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36D09-D1D2-4FC0-98F9-091D136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BAFD6-9DE4-4B03-ACDC-582C92B6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BE3F7-975D-4B70-8EFA-1D86D422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37021-2A5B-4505-B5E4-7C7E9E3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BF626-9B36-4791-9958-56112340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75824-7B60-4331-8D23-D48AF6B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A1B18-9D7D-4130-A02A-26B4F02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42AF7-6D5B-463A-A654-004F61D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71798-E250-4FDB-A0B8-999F81B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SCENARIO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206955-2068-4B8B-9411-5BD0002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交替传译是最适合新手跑通的最小闭环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0B616-EED2-4D5A-8B23-747F0300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资料说明交传训练结构化、可重复、落地门槛低，天然适配自动化工作流设计。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A8863-FFEC-421E-BA06-56EF27D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924E92-122B-4869-B31C-09D49C1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D3296-5D02-4D76-BD5B-44197A4D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前置准备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F0BED9-C097-477D-A573-9204531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上传中英对齐文本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绑定专属知识库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71B578-4719-41C5-A62C-C179BD7B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A5FDC1-ACF9-43DD-BCDD-F35A45F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908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F2DC0-458A-4AA4-ABD8-6A8D75C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6F38D5-3534-47AC-8DA4-052720A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1F853E-77E9-44DF-AF78-F5A0F868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开始节点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A29EA6-741A-4A6C-94B2-6EC49E2D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选择文章、方向、难度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设置停顿时长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5C54C-C5CC-42D5-A109-6D26475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02189B-533F-4B66-8B0D-E861AE2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908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B8C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B8C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13AA9F-0234-4400-95FB-72531FC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5AAFF5-C1FC-4DC7-ACD2-B758DE2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15DCCD-3CF5-49A9-B388-385B96C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527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节点 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54C78B-115D-4C8E-B5DB-5E43DE63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调取练习材料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原文/译文分句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4BB26E-ED34-410B-8B86-C68D810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5AD6C2-9D56-4FD8-A0F9-F6431001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7142CC-DD6F-4AF8-BE3F-34D55BAD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节点 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830706-EDE0-4475-A680-399948C5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生成原文音频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逐句停顿处理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D77C20-D88F-4687-8230-4D4B4C8B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844D23-A89B-4BB4-9F0D-2CC19E2F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86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B0E1C9-FE47-4495-8A34-32F9B1F8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EF35BB-0101-4280-BCBC-BDD9A28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B6C3A1-DD30-47EA-AE3F-07FF627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481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节点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031605-0CA7-4429-B905-947A3BC0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95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上传口译录音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转写为文本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C2B844-DD99-4C20-810E-B4F0C29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1BF735-A110-4C0F-81EE-03DCFF90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86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3EE73A-1486-4B41-B922-D3CB50DD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2F3000-6BB6-4307-B7E5-214C0B9C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1A0A43-2E6A-44A8-A004-108D9B7D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481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结束节点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35C70B-FBD3-476D-B41A-48DD2150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整合音频或文本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输出最终成品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A44EC3-F6F3-47EB-A878-21EAA48D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480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5AA500-DCC1-440D-BD52-A6F47163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814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向下进入输出链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021108-0D8F-4AB0-B9A5-3238100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BEE53A-8470-4F35-919C-DF585C3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核心选择：先把一个真实训练流程做窄、做稳，再扩展到同传、视译或译前准备。</a:t>
            </a:r>
          </a:p>
        </p:txBody>
      </p:sp>
    </p:spTree>
    <p:extLst>
      <p:ext uri="{BB962C8B-B14F-4D97-AF65-F5344CB8AC3E}">
        <p14:creationId xmlns:p14="http://schemas.microsoft.com/office/powerpoint/2010/main" val="14583279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93A31-3C0D-4D0B-A3CC-4A99681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0A30C-DCC6-4F50-8C1A-2E2494B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38F7A-DC13-4D6B-B957-46A075CB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2A619-7CB2-4DCA-B5CC-47A0CFB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7B518-AD4B-416D-A4AB-91F5CC44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6773C-B115-4E4A-BAC5-9AF34FE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CC7BB-690D-4F02-8041-996E47F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9413C-DD24-4C5B-A92A-EE9828A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57656-0AAF-435C-926D-5CFAEC2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4FFD5-D7B2-4CC0-BFA5-B271FAC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1E096-EACF-476A-93DD-A7E94F32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0B6DF-5652-4C42-8F0A-6C6F48F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5A1A8-2030-4EA1-9E7A-1E9BC4D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788BF-DC5A-45C4-9F43-E86A07CE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1D1E5-7820-4410-84E1-E11598C2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BD5AA-3AF1-4118-8A90-33431B2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0EDE6-E61C-4A4E-B018-4BD8AD3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16189-E705-43D3-932A-C5564E1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681C8-3984-478B-9CC8-2DE3779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78EB9-74B3-44F3-9746-5F9FD0F0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5FF41-55A7-465A-88E5-D8285D7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05EA1-5235-4B38-8FEA-E48078D5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476AA-B311-44B1-8CDC-D95C57A5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8FB54-E656-4EF6-9537-C6B795BC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16669-F697-4EF9-BDE4-2CE4AD15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11E52-7A70-41FA-A57E-FB8C7DE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1C205-FC30-4E2B-A6BE-F0D0A12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14D31-AFB1-4955-A684-B849390A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46CE3-B027-4AAF-AD48-45CF93D4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DESIGN METHOD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832DB9-5C22-4881-8E53-EFDFB3D3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标准化流程让学生从“想法”走到“可运行工作流”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9AC74-ADA3-4094-957F-4D96A66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资料给出的扣子平台工作流设计路径是：锁定边界、拆解 SOP、转化节点、绑定能力、试运行与修正。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0B9EB-A056-450D-8FE8-6903BDD6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762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6A4BC-F8CD-4061-AF6A-706D8F88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61A382-C596-4662-A006-56A0CCE7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533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锁定工作流边界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5DF30-A852-472C-AA5C-F93967C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533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只做交传练习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限定输入与输出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343A56-095C-49ED-A972-87D4D81E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002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CE0A6-8E2C-4B10-92D0-F463AA5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9498C5-B75C-4D86-BD9F-5995D75C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03B0BE-221E-4202-A29F-3C4C0EA0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E5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E5F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A0901E-6A0F-47C0-BFDF-F207951D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05100"/>
            <a:ext cx="1762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90ED7C-83A8-4507-A4DF-01261D20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0510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5F2DA7-6BC3-40A9-BF45-F5A4978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38450"/>
            <a:ext cx="1533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拆解固定 SOP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2D0C37-E381-4689-811F-E99C9396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86100"/>
            <a:ext cx="1533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把真实练习动作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逐步写出来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51BF28-CC32-446D-9162-9FD42C1D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002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C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41C52F-0318-4CF2-AAC3-18E82EF2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890801-ED97-45FE-997D-1139C62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908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1C397D-EAA4-451B-8BC4-2E5D1A96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66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E5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E5F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61DBB9-47CB-4356-85B2-3BB4BBAF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05100"/>
            <a:ext cx="1762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933D10-F19B-4ECE-8047-4F210B42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0510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3E9BD7-92F7-4403-921D-CA452D0E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533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转化标准化节点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0C787D-842C-4D1B-BC6E-DDDFCFE8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86100"/>
            <a:ext cx="1533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一个节点只承担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一个固定动作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097174-2832-47E6-A04F-FFD2457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02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B2D27E-62BE-4F04-85AC-9C0FD41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7C2A94-5B89-4432-9485-D6F9D54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7E244B-441A-47E0-BC48-D669872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66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E5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E5F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5D7B99-9077-429F-AD6C-76877AB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05100"/>
            <a:ext cx="1762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10536D-2BF0-49BD-BA90-4B1115F1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0510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874AE2-142D-480F-AC53-A8038C5C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38450"/>
            <a:ext cx="1533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绑定 AI 能力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96ECE6-B565-4AE5-9D4C-E7943664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86100"/>
            <a:ext cx="1533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知识库、TTS、转写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按任务接入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6F8776-EFC9-44B2-A4D1-9AA9A7E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002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6A3799-0279-4FF6-ACD6-202272B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720498-9D4F-4F24-8626-E217C41F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908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CA0AFB-B437-4B50-A2FF-18FD681D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466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E5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E5F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11FA35-2372-453A-91F5-1D71CD6D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05100"/>
            <a:ext cx="1762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CA1CDA-25DF-46E6-BFC0-A18CB81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0510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4245A2-0563-4689-B106-B8F56671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38450"/>
            <a:ext cx="1533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试运行与修正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A7F910-8329-4727-8C6D-5F581E43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533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查看错误原因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迭代参数与提示词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2D05EB-61A0-424F-98D9-B59C59B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002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0B2D8A-37B5-4D00-8C59-C24C1BF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CDE8C1-ED9E-4FFD-BEAC-272B3F1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2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F45685-0870-4E80-8A8B-78ED79A0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这条路径也适合迁移：法律口译、商务谈判口译、新闻发布会口译，都先从最小闭环开始。</a:t>
            </a:r>
          </a:p>
        </p:txBody>
      </p:sp>
    </p:spTree>
    <p:extLst>
      <p:ext uri="{BB962C8B-B14F-4D97-AF65-F5344CB8AC3E}">
        <p14:creationId xmlns:p14="http://schemas.microsoft.com/office/powerpoint/2010/main" val="5349821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6BAD1E-47ED-4699-B923-0A445F93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DBA85-460D-4657-9740-98C0C50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9221A-54D9-4236-8452-A1121683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A5E7-170F-4BD6-B2D9-BB62E958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21F08-03DD-450F-B5F6-BBBE31B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F3EA6-EE27-469F-B4E8-294D4566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ADC35-7E5B-458C-A8B2-8C33970F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71371-DB0D-4BC5-A21D-A0BCFC19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0877A-0640-41FD-BA19-32950D4E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DD5B5-51C1-4EF6-87BF-D98DCAED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060FF-F980-4DA7-BD33-A9FB6CCB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E1C17-2720-4341-86CE-A3577E3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511B9-90A5-4D00-A85C-906D78E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0BC6C-6E83-4423-B73A-1C8BAA24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22673-FE0C-4671-82AE-D500864A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56385-5D7C-4FAE-9987-7A75912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6DC5D-E8BE-4E37-AEA2-8BEAB78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1013D-0284-4BA9-B133-D97B1F2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86298-2612-427A-BA57-FBBD25B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879A6-F4FE-4773-8B0A-0831A00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CC007-C456-4B34-B657-6506514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C7227-CABC-4022-8CE6-308430C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A96E8-D079-437D-8F5C-D53030B9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67C01-8771-4540-ABA6-E4D2CB74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3C235-340C-4FFC-B7C5-2DB9E9F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B4D17-A560-4707-8D43-590387EA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E0B2A-75F4-4FE0-87AF-067E702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5E509-CB11-4BBC-A581-C6403110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772E8-1804-487C-B733-28A15E8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AGENT PANEL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552C1-29A5-4C50-966D-29BCC132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智能体面板可理解为“指挥部、武器库、实时练习场”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80ABE-85DA-448E-B4D1-87FB5F57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飞书截图中智能体面板呈现三块核心区域；这里将其转译为课堂可讲的功能地图。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D5D7F-2981-4B4E-8B8D-1E6887FB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2259C-47E8-44EA-B256-1A255F8F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2B1A00-F05E-462A-9208-8EF10D4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指挥部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B0D32-AE02-4E86-A539-979C7C6C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设定智能体身份、任务边界和响应风格。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在口译训练中，它决定：本轮练什么、按什么标准评价、哪些输出必须固定。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478372-9156-41DD-A8A5-7D77671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0EC4E-20B6-458C-9635-B532726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7382C0-7E5D-403C-8ACD-8E2FD0F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武器库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85856A-8C66-40F3-A779-5F03CA33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管理插件、工作流、知识库和变量。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在口译训练中，它把 TTS、转写、材料库、代码节点等能力接进流程。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A86C96-5B34-4E95-B23D-995022C6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568E1E-7763-4FBC-96E1-944B4310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CAF0B8-C257-40E5-9414-5B93FCA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实时练习场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84026C-92EF-42CE-82C8-3309EC9A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预览和调试学生实际体验。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在口译训练中，它用于检查音频能否生成、录音能否转写、输出是否符合预期。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7990F6-F792-4C29-8B41-C054CE41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教学话术：面板不是“按钮集合”，而是把角色、能力和测试场景分开管理。</a:t>
            </a:r>
          </a:p>
        </p:txBody>
      </p:sp>
    </p:spTree>
    <p:extLst>
      <p:ext uri="{BB962C8B-B14F-4D97-AF65-F5344CB8AC3E}">
        <p14:creationId xmlns:p14="http://schemas.microsoft.com/office/powerpoint/2010/main" val="15216878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F55789-C9D1-439A-8040-46DC4925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80466-2458-4032-B810-02817D7A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A70D-68B3-4B7F-B760-E951B68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8DDA9-A302-4A8D-AF9A-4F26CFC7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1FA77-BC04-423A-9DC2-46DCE43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6AD45-B9F7-4953-98D3-17D5FD71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76BCE-359D-4DA6-B59F-C9AFE8E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F1FED-99CA-42EB-9A41-4026C2E7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44A22-3C8D-40F5-B69F-19787660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3FEC3-1E3C-4572-B3AB-B3211A8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58DE6-2CED-460C-8F79-F6E0552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C7CE4-E4C9-46A6-ADD1-B914BF44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C6324-AF00-4BA6-9DDA-1838F02F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7C17C-EDB9-46CF-9EE9-1DBF0DF2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9FE85-B562-4D78-B60B-8963E46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89C7B-E00F-41F2-9EE7-1C57783F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A6359-EAE5-474A-BF03-8FC36C2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6F5B-8659-47AB-9AC4-577439AF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3E3AE-E809-4ECF-BA9C-EA2E5DC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793F2-0BEE-4F15-BFF9-4E2F710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98D6B-A75A-4657-9CF5-F22B327C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2BBA1-90EA-4B1D-863C-8292B6E6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FF604-68F2-4900-9705-217378D8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C685B-5E8A-4C4B-A06E-B8B48C0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F328D-F8A8-47FB-AF9F-21AAC006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8C574-5BBD-4DDE-80DF-B0A6560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9FF27-5515-4927-81A1-CF4E39E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67181B-5113-4F97-89A3-752DF508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B9E73-126D-4B44-82FB-55EB877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NODE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68C94-40D0-4726-A5EE-03FF83B6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核心节点把知识库、音频、录音和转写连成训练闭环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A44D7-524C-4A10-9343-A45EA59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资料细化了开始节点、知识库调取、分句代码、TTS、录音转写和结束输出等步骤。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534DBE-FC3A-46FC-BA1A-47A391A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93979-8CFF-473B-AC60-D5F252FE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50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42A54-DDF4-46CE-9DC9-8942A3D6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开始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8B7DDD-5937-44DD-B0CE-785986C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level / direction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pause_time / topic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8E62E-AE15-47AF-AAAF-55C39C6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9DFCC-404E-43AC-8DB4-9D7271DC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289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F9598C-413D-4508-B65E-5E8C238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574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11AC9-7F19-4C7F-8055-34217A94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57450"/>
            <a:ext cx="150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E51D5C-448F-4BCF-BC7D-FE2ACD8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知识库调取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5ADFE5-F572-41BD-9BD6-989692E8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选中练习文章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中英对齐材料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F5D1A0-3787-4ECE-867C-1A98B891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016AA6-C4C2-4866-8AB2-78EAD3DE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289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E44251-55F1-466D-BF97-7A63B26C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5BC04D-A429-4261-8B57-F000DBD1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150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2ED480-C34D-408B-9BE9-3237257C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分句处理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17B51B-43F1-4BE9-9650-2DF90704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原文与参考译文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按交传规则切分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0EEC01-F392-4909-B775-D44036D4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A962EA-3EB8-4DAB-8B02-E319C8E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289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B8C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BBA226-28AC-4ABB-8F6E-4D53193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38CD46-4250-4BBB-AA9A-BC1C9B4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50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97A1DE-B16F-4A0F-9A7F-09E224E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TTS 音频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230583-FEFF-448F-BAA1-ECB1A625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指定原文发音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逐句停顿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D61D1B-F30D-49E8-A52C-A0B77A3D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9553C8-5836-4898-8088-9E3525C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289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64B5B5-5AD7-4F4D-912C-AB644C95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1504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02311E-624E-44D7-A31F-4AB99EE4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150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652AA9-760F-470C-A03F-EAB5D81D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录音转写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83025A-6A80-47B4-AA77-6555A15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上传口译音频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语音转文本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A69E42-2494-4D98-AF12-C0529B8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481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5D823E-3C43-4EDC-BCDA-D5EEA21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48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760967-0319-441C-8793-5F8C5DE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815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结束输出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CD895F-5E32-4410-A9D7-B148AD62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291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返回变量</a:t>
            </a:r>
          </a:p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音频或文本成品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8FFC92-7257-468C-9383-DF96852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671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C74597-6673-494F-9ECD-25A7DC81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48100"/>
            <a:ext cx="4829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E27ED2-F3FA-45A0-8ACF-8421B510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481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5CD6E5-35E8-44A9-9318-D89751F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EF5F65-BDAC-4B45-950B-AD368AEF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0FD15D-BA71-4175-858D-80D7D31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关键约束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E276D2-932E-4E43-BF85-78F8DB53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TTS 与转写插件常涉及 API 密钥或免费额度，需要在试运行中提前验证。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D0D3C7-C111-4161-BA54-47C16F1D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3276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2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456C27-3874-4A87-ABD0-57874D3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变量让流程可控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9078BB-4A09-4089-BF90-B5005052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86300"/>
            <a:ext cx="274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把文章、方向、难度、停顿时长做成可选择输入，减少学生自由填写带来的不稳定。</a:t>
            </a:r>
          </a:p>
        </p:txBody>
      </p:sp>
    </p:spTree>
    <p:extLst>
      <p:ext uri="{BB962C8B-B14F-4D97-AF65-F5344CB8AC3E}">
        <p14:creationId xmlns:p14="http://schemas.microsoft.com/office/powerpoint/2010/main" val="12102157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1770F-D887-4371-A6E5-8A1EC95C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F010A-DBA7-493A-8037-5A5B473D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4A8F1-A587-4A67-90F8-F4BFDCDC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6434C-F383-40C8-B142-88B3353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65141-346C-4176-A022-51D7CC5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EC333-EFE5-4CDE-BCE4-CD3456F9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FA887-A6D2-4729-B604-FAF7FB7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AC165-F6E9-4CCA-93AF-08A09F6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1B2F0-D809-4907-9EB7-ACFCE44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CE01D-2E97-4A20-A909-9EB27656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250EC-E55A-4F65-B333-1717261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29403-49AF-4FE8-9009-8CE7102A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CA016-1C18-408F-BCA8-D5BFF3E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83DC0-0894-425A-8B5A-D36B81DD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938FC-FB69-470E-8453-40CF2A7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C9F11-3E00-49B4-8363-A213F46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AB5DF-C103-471B-BA67-BC02170A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8E33E-CFA2-425F-99AC-943414C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74E96-4D79-4CF4-9C97-EEC0EC43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FD36E-F532-4E99-9276-90257BB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7BC50-1F9C-4C46-94F4-017626C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32413-5531-4BEC-8BBF-48F06C6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A1BCB-8133-40F3-AADE-582C040D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FFBB6-83A0-4A67-840B-DEA12F9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D5A20-45B1-4812-BB96-20D32BBB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5DDB3-8B75-40E9-BE18-2DE11F00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E271FE-9463-4C34-B937-1B7935E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4C6CA-E9C2-4B39-B1A4-B47FEE5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22E2D-263F-4B5D-B76E-1112651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OPTIMIZATION RULES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B4FBF-9774-47C5-BC08-E7A264C3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高效工作流赢在范围窄、接口清、约束强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C784C-36B4-4A89-ACD0-D571668E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飞书资料将低效与高效工作流进行对比，并提炼出新手可落地的优化方向。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6B6B3-34AB-43D4-99C1-24DF95F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1A0623-A132-46D8-A658-7DA5B91D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对比维度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437EF-FC0D-4580-94CE-161EB820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193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低效工作流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E671B-1730-4FA2-8BDF-9D2540A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高效工作流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29DA7A-C053-4784-BCA5-08440086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核心目的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FED49-CD62-4775-8678-A2CAE22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051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想同时搞定交传、同传、视译和译前准备。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1F484F-D313-4BB3-BAF2-41EBB79A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只盯一个场景，按固定流程跑通。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7B712-A41C-41BE-914A-0BB071B3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514CF7-DA5B-4EE6-9345-90FD62F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节点分工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6336D0-919B-46C9-9483-940F7CF7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575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一个节点塞进找材料、转音频、评分复盘。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A04C8F-FA50-4B91-87A0-F9378DE9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一个节点只干一件事，职责清楚。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A85387-074B-4FE2-8B53-AAE889FA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27F2F7-42AD-4866-9CF4-042A3E4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用户操作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FCE760-C216-4DAD-99C2-3892C97B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00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大量空白框，靠用户自由填写。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0169EF-F62A-49DB-986B-77AC9862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做成选择题：文章、方向、难度、停顿时长。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AD6A46-CCB6-466D-B45F-81893A60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45DBDB-0282-4791-BED4-4C29A274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AI 指令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1E4F3A-744C-404C-B1D9-F6A84CA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标准和输出格式不清，结果每次不同。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741FF7-8528-4886-8B03-A09B0597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写明身份、规则、格式，禁止多余内容。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980973-A978-4333-840C-4C3C1088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34FE4F-9DEC-477E-8F06-84FD32D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练习素材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D85AFC-0035-4486-88B6-1012A4E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149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不绑定专属知识库，AI 自己编内容。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67E88F-53EC-43CD-B55E-8550E0B8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只调用交传练习知识库，还原真实材料。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0F8085-DCBD-432D-BEE1-E0F070F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30A59D-FF55-45B9-9FFC-10F36AED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2A06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A06B"/>
                </a:solidFill>
                <a:latin typeface="PingFang SC"/>
                <a:ea typeface="PingFang SC"/>
                <a:cs typeface="PingFang SC"/>
              </a:rPr>
              <a:t>最小业务闭环先稳定，才谈扩展和复用。</a:t>
            </a:r>
          </a:p>
        </p:txBody>
      </p:sp>
    </p:spTree>
    <p:extLst>
      <p:ext uri="{BB962C8B-B14F-4D97-AF65-F5344CB8AC3E}">
        <p14:creationId xmlns:p14="http://schemas.microsoft.com/office/powerpoint/2010/main" val="8796383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F337E-D9AB-473A-9D98-09B2376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3B286-823D-4479-AFBB-2BE33DC3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DF44C-7CF1-4E6F-98C6-656ABCA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919D4-4227-42C6-85B4-D4E1D117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F041-4330-44AF-85A4-3F9E1377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52065-F870-47AC-8269-C612527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2B89C-9F30-45E5-B660-4AEE6C6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BBA27-1CEF-4C36-93E4-45F10E3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9E776-D6E0-4CC6-A4C5-BB3DEE21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2AFFD-5B8D-4918-BA10-47B32A0A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0CE30-F266-47D2-A44F-CAF5E531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89B82-18F3-43EA-B16A-3AE6D2A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99DBA-0684-4603-B15E-4EA0C2DB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30F12-43DF-4F26-9DF5-F1BA744B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1AC1D-3EDA-4C82-AC02-0EFA1C7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9060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B346F-6FE2-41FC-B02F-CA53368A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02FC4-397C-41B7-B680-9B493020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AF7F3-69EF-4CAE-931E-589C00D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CC0F1-DC5F-4226-8B23-CB3B5523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1F9AF-4D21-4875-B239-FE88FBAD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EE119-7216-4E65-B3E9-45E72A1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77D82-56A3-453A-AFFD-9DFD9932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6E755-2EBF-4CD7-A19B-AD5C3F1E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B9DCC-2AE7-478B-AAC2-59B0510A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22635-40C4-4BB3-91B7-B125F66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58D80-632F-4366-AD50-06AC6F99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CA4"/>
                </a:solidFill>
                <a:latin typeface="PingFang SC"/>
                <a:ea typeface="PingFang SC"/>
                <a:cs typeface="PingFang SC"/>
              </a:rPr>
              <a:t>资料来源：飞书云文档《260416-1 智能实践：口语口译智能体的诞生与优化（基于扣子平台）》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6AB2F-81CC-4A41-8CDE-002EDB6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7EFCB-A6CC-456A-91FC-982DACE3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5DEEF-3CE6-4F60-A2EA-53BCFFB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E"/>
                </a:solidFill>
                <a:latin typeface="Aptos"/>
                <a:ea typeface="Aptos"/>
                <a:cs typeface="Aptos"/>
              </a:rPr>
              <a:t>STUDENT DELIVERABLE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657C03-774B-4C86-8906-B10FBC5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结课交付应证明智能体能跑、能测、能复盘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20A5F-80E2-42DA-885E-7EF657D4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把课程资料转化为学生任务时，建议用可检查的交付件代替单纯截图提交。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AA1F1C-3AEF-43CA-A822-433E9B08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B744D-FD2B-4CAE-80FF-07A3F20E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F6164-AA33-47B4-8DB7-FF79540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流程图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73048-08A3-4A86-9EA0-BCBE5656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标出开始节点、知识库、分句、TTS、录音转写、结束输出。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1E5428-AD1D-40C8-A5AB-37FA5ECB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AC62FC-F2FC-4371-9279-90BA2C8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8149CF-32C9-4889-879E-73508688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提示词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FB87EC-D7C9-4E2D-B3BD-40E7AE8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写清角色、规则、输出格式，说明每个节点为何这样约束。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C5C53-3849-4555-B2DB-9D624621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C7ADDE-AEA1-4B32-8FD9-0C4A796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55BF77-22AF-47E2-B457-378AB04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测试记录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F7EFB5-E81F-4926-B312-BF1EFE8F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至少记录一次成功与一次失败，说明错误原因和修正方式。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BF8FA2-87FB-4107-95D7-D5CBB8F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26BF23-BFC8-4B90-95B2-6DBA1C9A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1A6B0D-0202-4D0C-9311-5C00116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复盘说明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C0C87D-1C37-4835-B6B1-BFEE3BB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B82"/>
                </a:solidFill>
                <a:latin typeface="PingFang SC"/>
                <a:ea typeface="PingFang SC"/>
                <a:cs typeface="PingFang SC"/>
              </a:rPr>
              <a:t>回答：这个智能体解决了哪个口译训练问题？下一步如何扩展？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0A595-3A14-4778-B66D-EB6CA80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6BFE"/>
                </a:solidFill>
                <a:latin typeface="PingFang SC"/>
                <a:ea typeface="PingFang SC"/>
                <a:cs typeface="PingFang SC"/>
              </a:rPr>
              <a:t>评分抓手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A8ED7B-8E14-4CE2-9165-7DB034F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00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能否复现真实训练流程 · 节点职责是否清晰 · 输入输出是否稳定 · 是否完成试运行迭代</a:t>
            </a:r>
          </a:p>
        </p:txBody>
      </p:sp>
    </p:spTree>
    <p:extLst>
      <p:ext uri="{BB962C8B-B14F-4D97-AF65-F5344CB8AC3E}">
        <p14:creationId xmlns:p14="http://schemas.microsoft.com/office/powerpoint/2010/main" val="1641033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2026-05-25T05:27:11.1080000Z</dcterms:created>
  <dcterms:modified xsi:type="dcterms:W3CDTF">2026-05-25T05:27:11.1080000Z</dcterms:modified>
</coreProperties>
</file>